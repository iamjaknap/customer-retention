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9EAA45A0-8E31-40E2-B9FC-641F7523CA28}" type="datetimeFigureOut">
              <a:rPr lang="en-US" smtClean="0"/>
              <a:t>7/29/2021</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1052567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AA45A0-8E31-40E2-B9FC-641F7523CA28}" type="datetimeFigureOut">
              <a:rPr lang="en-US" smtClean="0"/>
              <a:t>7/29/2021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1361468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AA45A0-8E31-40E2-B9FC-641F7523CA28}" type="datetimeFigureOut">
              <a:rPr lang="en-US" smtClean="0"/>
              <a:t>7/29/2021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2256907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AA45A0-8E31-40E2-B9FC-641F7523CA28}"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440528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AA45A0-8E31-40E2-B9FC-641F7523CA28}" type="datetimeFigureOut">
              <a:rPr lang="en-US" smtClean="0"/>
              <a:t>7/29/2021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1365823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AA45A0-8E31-40E2-B9FC-641F7523CA28}" type="datetimeFigureOut">
              <a:rPr lang="en-US" smtClean="0"/>
              <a:t>7/29/2021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4272092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AA45A0-8E31-40E2-B9FC-641F7523CA28}" type="datetimeFigureOut">
              <a:rPr lang="en-US" smtClean="0"/>
              <a:t>7/29/2021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2274632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A45A0-8E31-40E2-B9FC-641F7523CA28}"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2216569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A45A0-8E31-40E2-B9FC-641F7523CA28}"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2973007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A45A0-8E31-40E2-B9FC-641F7523CA28}"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2747514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A45A0-8E31-40E2-B9FC-641F7523CA28}"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111452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A45A0-8E31-40E2-B9FC-641F7523CA28}"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3A662-2526-4BA5-8B59-B524C61F839D}"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181587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A45A0-8E31-40E2-B9FC-641F7523CA28}"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3162567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EAA45A0-8E31-40E2-B9FC-641F7523CA28}" type="datetimeFigureOut">
              <a:rPr lang="en-US" smtClean="0"/>
              <a:t>7/29/2021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33422071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EAA45A0-8E31-40E2-B9FC-641F7523CA28}" type="datetimeFigureOut">
              <a:rPr lang="en-US" smtClean="0"/>
              <a:t>7/29/2021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6491028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AA45A0-8E31-40E2-B9FC-641F7523CA28}" type="datetimeFigureOut">
              <a:rPr lang="en-US" smtClean="0"/>
              <a:t>7/29/2021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12524408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AA45A0-8E31-40E2-B9FC-641F7523CA28}" type="datetimeFigureOut">
              <a:rPr lang="en-US" smtClean="0"/>
              <a:t>7/29/2021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F3A662-2526-4BA5-8B59-B524C61F839D}" type="slidenum">
              <a:rPr lang="en-US" smtClean="0"/>
              <a:t>‹#›</a:t>
            </a:fld>
            <a:endParaRPr lang="en-US"/>
          </a:p>
        </p:txBody>
      </p:sp>
    </p:spTree>
    <p:extLst>
      <p:ext uri="{BB962C8B-B14F-4D97-AF65-F5344CB8AC3E}">
        <p14:creationId xmlns:p14="http://schemas.microsoft.com/office/powerpoint/2010/main" val="3181144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EAA45A0-8E31-40E2-B9FC-641F7523CA28}" type="datetimeFigureOut">
              <a:rPr lang="en-US" smtClean="0"/>
              <a:t>7/29/2021</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BF3A662-2526-4BA5-8B59-B524C61F839D}" type="slidenum">
              <a:rPr lang="en-US" smtClean="0"/>
              <a:t>‹#›</a:t>
            </a:fld>
            <a:endParaRPr lang="en-US"/>
          </a:p>
        </p:txBody>
      </p:sp>
    </p:spTree>
    <p:extLst>
      <p:ext uri="{BB962C8B-B14F-4D97-AF65-F5344CB8AC3E}">
        <p14:creationId xmlns:p14="http://schemas.microsoft.com/office/powerpoint/2010/main" val="917342759"/>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D83A79-09E1-4110-862F-9E649DF9EED7}"/>
              </a:ext>
            </a:extLst>
          </p:cNvPr>
          <p:cNvSpPr>
            <a:spLocks noGrp="1"/>
          </p:cNvSpPr>
          <p:nvPr>
            <p:ph type="title"/>
          </p:nvPr>
        </p:nvSpPr>
        <p:spPr/>
        <p:txBody>
          <a:bodyPr>
            <a:normAutofit/>
          </a:bodyPr>
          <a:lstStyle/>
          <a:p>
            <a:pPr algn="ctr"/>
            <a:r>
              <a:rPr lang="en-US" sz="5400" b="1" dirty="0">
                <a:solidFill>
                  <a:srgbClr val="0070C0"/>
                </a:solidFill>
              </a:rPr>
              <a:t>CUSTOMER RETENTION PROJECT</a:t>
            </a:r>
          </a:p>
        </p:txBody>
      </p:sp>
      <p:sp>
        <p:nvSpPr>
          <p:cNvPr id="5" name="Content Placeholder 4">
            <a:extLst>
              <a:ext uri="{FF2B5EF4-FFF2-40B4-BE49-F238E27FC236}">
                <a16:creationId xmlns:a16="http://schemas.microsoft.com/office/drawing/2014/main" id="{172EFCA4-0AE5-4B80-86EF-BCCDC3B81F91}"/>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sz="3600" b="1" dirty="0">
                <a:solidFill>
                  <a:schemeClr val="bg1"/>
                </a:solidFill>
              </a:rPr>
              <a:t>BY</a:t>
            </a:r>
          </a:p>
          <a:p>
            <a:pPr marL="0" indent="0" algn="ctr">
              <a:buNone/>
            </a:pPr>
            <a:r>
              <a:rPr lang="en-US" sz="3600" b="1" dirty="0">
                <a:solidFill>
                  <a:schemeClr val="bg1"/>
                </a:solidFill>
              </a:rPr>
              <a:t>PANKAJ ADHIKARI</a:t>
            </a:r>
          </a:p>
        </p:txBody>
      </p:sp>
      <p:pic>
        <p:nvPicPr>
          <p:cNvPr id="7" name="Picture 6">
            <a:extLst>
              <a:ext uri="{FF2B5EF4-FFF2-40B4-BE49-F238E27FC236}">
                <a16:creationId xmlns:a16="http://schemas.microsoft.com/office/drawing/2014/main" id="{CAA63405-2EE9-42B0-B928-488CA65DB4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2012" y="2249487"/>
            <a:ext cx="3246261" cy="958628"/>
          </a:xfrm>
          <a:prstGeom prst="rect">
            <a:avLst/>
          </a:prstGeom>
        </p:spPr>
      </p:pic>
    </p:spTree>
    <p:extLst>
      <p:ext uri="{BB962C8B-B14F-4D97-AF65-F5344CB8AC3E}">
        <p14:creationId xmlns:p14="http://schemas.microsoft.com/office/powerpoint/2010/main" val="2838804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EB849-8CF8-4223-BDFB-77E6E78CA089}"/>
              </a:ext>
            </a:extLst>
          </p:cNvPr>
          <p:cNvSpPr>
            <a:spLocks noGrp="1"/>
          </p:cNvSpPr>
          <p:nvPr>
            <p:ph type="title"/>
          </p:nvPr>
        </p:nvSpPr>
        <p:spPr/>
        <p:txBody>
          <a:bodyPr/>
          <a:lstStyle/>
          <a:p>
            <a:pPr algn="ctr"/>
            <a:r>
              <a:rPr lang="en-US" b="1" dirty="0">
                <a:solidFill>
                  <a:srgbClr val="0070C0"/>
                </a:solidFill>
                <a:effectLst>
                  <a:outerShdw blurRad="38100" dist="38100" dir="2700000" algn="tl">
                    <a:srgbClr val="000000">
                      <a:alpha val="43137"/>
                    </a:srgbClr>
                  </a:outerShdw>
                </a:effectLst>
              </a:rPr>
              <a:t>INTRODUCTION</a:t>
            </a:r>
          </a:p>
        </p:txBody>
      </p:sp>
      <p:sp>
        <p:nvSpPr>
          <p:cNvPr id="3" name="Content Placeholder 2">
            <a:extLst>
              <a:ext uri="{FF2B5EF4-FFF2-40B4-BE49-F238E27FC236}">
                <a16:creationId xmlns:a16="http://schemas.microsoft.com/office/drawing/2014/main" id="{91531555-1164-441F-8455-A785774804F8}"/>
              </a:ext>
            </a:extLst>
          </p:cNvPr>
          <p:cNvSpPr>
            <a:spLocks noGrp="1"/>
          </p:cNvSpPr>
          <p:nvPr>
            <p:ph idx="1"/>
          </p:nvPr>
        </p:nvSpPr>
        <p:spPr/>
        <p:txBody>
          <a:bodyPr>
            <a:normAutofit fontScale="92500" lnSpcReduction="20000"/>
          </a:bodyPr>
          <a:lstStyle/>
          <a:p>
            <a:pPr marL="0" indent="0">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Online Shopping has been one of the fastest mode of selling goods. Although there are a lot of website that sell variety of good ranging from apparel to electronics, most of the customers are not convinced by the quality service provided by the website. Hence, they tend to hop from one website to another to find the best deal of items and services. Thus, website find it difficult to retain the customers to comeback for second purchase. To address this problem most of the website tend to attract the customers with various deals and subsidies to retain them but sometimes that is not enough. This bring us to the customer activation and retention mechanism where a set of questionnaire are researched to find whether the customer revisit the website for repurchase. </a:t>
            </a:r>
          </a:p>
          <a:p>
            <a:endParaRPr lang="en-US" dirty="0"/>
          </a:p>
        </p:txBody>
      </p:sp>
    </p:spTree>
    <p:extLst>
      <p:ext uri="{BB962C8B-B14F-4D97-AF65-F5344CB8AC3E}">
        <p14:creationId xmlns:p14="http://schemas.microsoft.com/office/powerpoint/2010/main" val="2518445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EB849-8CF8-4223-BDFB-77E6E78CA089}"/>
              </a:ext>
            </a:extLst>
          </p:cNvPr>
          <p:cNvSpPr>
            <a:spLocks noGrp="1"/>
          </p:cNvSpPr>
          <p:nvPr>
            <p:ph type="title"/>
          </p:nvPr>
        </p:nvSpPr>
        <p:spPr>
          <a:xfrm>
            <a:off x="1141413" y="618518"/>
            <a:ext cx="9905998" cy="1238417"/>
          </a:xfrm>
        </p:spPr>
        <p:txBody>
          <a:bodyPr/>
          <a:lstStyle/>
          <a:p>
            <a:pPr algn="ctr"/>
            <a:r>
              <a:rPr lang="en-US" b="1" dirty="0">
                <a:solidFill>
                  <a:srgbClr val="0070C0"/>
                </a:solidFill>
                <a:effectLst>
                  <a:outerShdw blurRad="38100" dist="38100" dir="2700000" algn="tl">
                    <a:srgbClr val="000000">
                      <a:alpha val="43137"/>
                    </a:srgbClr>
                  </a:outerShdw>
                </a:effectLst>
              </a:rPr>
              <a:t>PROBLEM DEFINITION</a:t>
            </a:r>
          </a:p>
        </p:txBody>
      </p:sp>
      <p:sp>
        <p:nvSpPr>
          <p:cNvPr id="3" name="Content Placeholder 2">
            <a:extLst>
              <a:ext uri="{FF2B5EF4-FFF2-40B4-BE49-F238E27FC236}">
                <a16:creationId xmlns:a16="http://schemas.microsoft.com/office/drawing/2014/main" id="{91531555-1164-441F-8455-A785774804F8}"/>
              </a:ext>
            </a:extLst>
          </p:cNvPr>
          <p:cNvSpPr>
            <a:spLocks noGrp="1"/>
          </p:cNvSpPr>
          <p:nvPr>
            <p:ph idx="1"/>
          </p:nvPr>
        </p:nvSpPr>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Data set represent the sentiment of customers during online shopping across various websites. The goal here is to determine whether the websites are able to retain the customers for second purchase. This is only possible by careful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analyse</a:t>
            </a:r>
            <a:r>
              <a:rPr lang="en-US" sz="1800" dirty="0">
                <a:effectLst/>
                <a:latin typeface="Calibri" panose="020F0502020204030204" pitchFamily="34" charset="0"/>
                <a:ea typeface="Calibri" panose="020F0502020204030204" pitchFamily="34" charset="0"/>
                <a:cs typeface="Times New Roman" panose="02020603050405020304" pitchFamily="18" charset="0"/>
              </a:rPr>
              <a:t> the Data set provided.</a:t>
            </a:r>
          </a:p>
          <a:p>
            <a:endParaRPr lang="en-US" dirty="0"/>
          </a:p>
        </p:txBody>
      </p:sp>
    </p:spTree>
    <p:extLst>
      <p:ext uri="{BB962C8B-B14F-4D97-AF65-F5344CB8AC3E}">
        <p14:creationId xmlns:p14="http://schemas.microsoft.com/office/powerpoint/2010/main" val="41371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EB849-8CF8-4223-BDFB-77E6E78CA089}"/>
              </a:ext>
            </a:extLst>
          </p:cNvPr>
          <p:cNvSpPr>
            <a:spLocks noGrp="1"/>
          </p:cNvSpPr>
          <p:nvPr>
            <p:ph type="title"/>
          </p:nvPr>
        </p:nvSpPr>
        <p:spPr>
          <a:xfrm>
            <a:off x="1141413" y="618518"/>
            <a:ext cx="9905998" cy="1238417"/>
          </a:xfrm>
        </p:spPr>
        <p:txBody>
          <a:bodyPr/>
          <a:lstStyle/>
          <a:p>
            <a:pPr algn="ctr"/>
            <a:r>
              <a:rPr lang="en-US" b="1" dirty="0">
                <a:solidFill>
                  <a:srgbClr val="0070C0"/>
                </a:solidFill>
                <a:effectLst>
                  <a:outerShdw blurRad="38100" dist="38100" dir="2700000" algn="tl">
                    <a:srgbClr val="000000">
                      <a:alpha val="43137"/>
                    </a:srgbClr>
                  </a:outerShdw>
                </a:effectLst>
              </a:rPr>
              <a:t>DATA ANALYSIS</a:t>
            </a:r>
          </a:p>
        </p:txBody>
      </p:sp>
      <p:sp>
        <p:nvSpPr>
          <p:cNvPr id="3" name="Content Placeholder 2">
            <a:extLst>
              <a:ext uri="{FF2B5EF4-FFF2-40B4-BE49-F238E27FC236}">
                <a16:creationId xmlns:a16="http://schemas.microsoft.com/office/drawing/2014/main" id="{91531555-1164-441F-8455-A785774804F8}"/>
              </a:ext>
            </a:extLst>
          </p:cNvPr>
          <p:cNvSpPr>
            <a:spLocks noGrp="1"/>
          </p:cNvSpPr>
          <p:nvPr>
            <p:ph idx="1"/>
          </p:nvPr>
        </p:nvSpPr>
        <p:spPr/>
        <p:txBody>
          <a:bodyPr/>
          <a:lstStyle/>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this section we perform Exploratory Data Analysis (EDA) so as to gain insight on Data.</a:t>
            </a:r>
          </a:p>
          <a:p>
            <a:pPr marL="0" marR="0" indent="0">
              <a:lnSpc>
                <a:spcPct val="107000"/>
              </a:lnSpc>
              <a:spcBef>
                <a:spcPts val="0"/>
              </a:spcBef>
              <a:spcAft>
                <a:spcPts val="800"/>
              </a:spcAft>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IMPORTING LIBRARIES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We begin by importing important Libraries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7" name="Picture 6">
            <a:extLst>
              <a:ext uri="{FF2B5EF4-FFF2-40B4-BE49-F238E27FC236}">
                <a16:creationId xmlns:a16="http://schemas.microsoft.com/office/drawing/2014/main" id="{C5E076A5-3B6A-4184-8FC6-0F6A121D3B61}"/>
              </a:ext>
            </a:extLst>
          </p:cNvPr>
          <p:cNvPicPr/>
          <p:nvPr/>
        </p:nvPicPr>
        <p:blipFill>
          <a:blip r:embed="rId2">
            <a:extLst>
              <a:ext uri="{28A0092B-C50C-407E-A947-70E740481C1C}">
                <a14:useLocalDpi xmlns:a14="http://schemas.microsoft.com/office/drawing/2010/main" val="0"/>
              </a:ext>
            </a:extLst>
          </a:blip>
          <a:stretch>
            <a:fillRect/>
          </a:stretch>
        </p:blipFill>
        <p:spPr>
          <a:xfrm>
            <a:off x="1301188" y="3429000"/>
            <a:ext cx="3960129" cy="2029265"/>
          </a:xfrm>
          <a:prstGeom prst="rect">
            <a:avLst/>
          </a:prstGeom>
        </p:spPr>
      </p:pic>
    </p:spTree>
    <p:extLst>
      <p:ext uri="{BB962C8B-B14F-4D97-AF65-F5344CB8AC3E}">
        <p14:creationId xmlns:p14="http://schemas.microsoft.com/office/powerpoint/2010/main" val="3922264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265BC-13AC-4EC0-928F-1C2A36C5E7DB}"/>
              </a:ext>
            </a:extLst>
          </p:cNvPr>
          <p:cNvSpPr>
            <a:spLocks noGrp="1"/>
          </p:cNvSpPr>
          <p:nvPr>
            <p:ph type="title"/>
          </p:nvPr>
        </p:nvSpPr>
        <p:spPr>
          <a:xfrm>
            <a:off x="1141413" y="618518"/>
            <a:ext cx="9905998" cy="746048"/>
          </a:xfrm>
        </p:spPr>
        <p:txBody>
          <a:bodyPr>
            <a:normAutofit/>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802618B6-3678-4BF6-98E8-28079A9B96AB}"/>
              </a:ext>
            </a:extLst>
          </p:cNvPr>
          <p:cNvSpPr>
            <a:spLocks noGrp="1"/>
          </p:cNvSpPr>
          <p:nvPr>
            <p:ph idx="1"/>
          </p:nvPr>
        </p:nvSpPr>
        <p:spPr>
          <a:xfrm>
            <a:off x="1141412" y="1674055"/>
            <a:ext cx="10253419" cy="4754880"/>
          </a:xfrm>
        </p:spPr>
        <p:txBody>
          <a:bodyPr/>
          <a:lstStyle/>
          <a:p>
            <a:pPr marL="0" marR="0" indent="0">
              <a:lnSpc>
                <a:spcPct val="107000"/>
              </a:lnSpc>
              <a:spcBef>
                <a:spcPts val="0"/>
              </a:spcBef>
              <a:spcAft>
                <a:spcPts val="800"/>
              </a:spcAft>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UPLOADING DATA SET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After importing Libraries we uploading the data using the excel file provided in two different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DataFrames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df1 </a:t>
            </a:r>
            <a:r>
              <a:rPr lang="en-IN" sz="1800" dirty="0">
                <a:effectLst/>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lang="en-IN" sz="1800" dirty="0">
                <a:effectLst/>
                <a:latin typeface="Calibri" panose="020F0502020204030204" pitchFamily="34" charset="0"/>
                <a:ea typeface="Calibri" panose="020F0502020204030204" pitchFamily="34" charset="0"/>
                <a:cs typeface="Times New Roman" panose="02020603050405020304" pitchFamily="18" charset="0"/>
              </a:rPr>
              <a:t> Contain the Detail Description of Dataset. Enabling us to analyse the data in encoded form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df2 </a:t>
            </a:r>
            <a:r>
              <a:rPr lang="en-IN" sz="1800" dirty="0">
                <a:effectLst/>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lang="en-IN" sz="1800" dirty="0">
                <a:effectLst/>
                <a:latin typeface="Calibri" panose="020F0502020204030204" pitchFamily="34" charset="0"/>
                <a:ea typeface="Calibri" panose="020F0502020204030204" pitchFamily="34" charset="0"/>
                <a:cs typeface="Times New Roman" panose="02020603050405020304" pitchFamily="18" charset="0"/>
              </a:rPr>
              <a:t> Contain the Encoded form of the Dataset. Enabling us to analyse the data in encoded form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SHAPE OF DATA</a:t>
            </a:r>
          </a:p>
          <a:p>
            <a:pPr marL="0" indent="0">
              <a:buNone/>
            </a:pPr>
            <a:endParaRPr lang="en-IN" sz="1800" b="1"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b="1"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The Shape of the data is rows = 269 &amp; column =71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A6FBF778-D8E1-4B6A-B6A5-6862096F070D}"/>
              </a:ext>
            </a:extLst>
          </p:cNvPr>
          <p:cNvPicPr/>
          <p:nvPr/>
        </p:nvPicPr>
        <p:blipFill>
          <a:blip r:embed="rId2">
            <a:extLst>
              <a:ext uri="{28A0092B-C50C-407E-A947-70E740481C1C}">
                <a14:useLocalDpi xmlns:a14="http://schemas.microsoft.com/office/drawing/2010/main" val="0"/>
              </a:ext>
            </a:extLst>
          </a:blip>
          <a:stretch>
            <a:fillRect/>
          </a:stretch>
        </p:blipFill>
        <p:spPr>
          <a:xfrm>
            <a:off x="1220042" y="4051495"/>
            <a:ext cx="2290518" cy="1115818"/>
          </a:xfrm>
          <a:prstGeom prst="rect">
            <a:avLst/>
          </a:prstGeom>
        </p:spPr>
      </p:pic>
    </p:spTree>
    <p:extLst>
      <p:ext uri="{BB962C8B-B14F-4D97-AF65-F5344CB8AC3E}">
        <p14:creationId xmlns:p14="http://schemas.microsoft.com/office/powerpoint/2010/main" val="3981545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24F0E-43DA-47D3-A807-A81DA0FD976E}"/>
              </a:ext>
            </a:extLst>
          </p:cNvPr>
          <p:cNvSpPr>
            <a:spLocks noGrp="1"/>
          </p:cNvSpPr>
          <p:nvPr>
            <p:ph type="title"/>
          </p:nvPr>
        </p:nvSpPr>
        <p:spPr>
          <a:xfrm>
            <a:off x="1141413" y="327514"/>
            <a:ext cx="9905998" cy="739285"/>
          </a:xfrm>
        </p:spPr>
        <p:txBody>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6E28E730-09CC-433C-8ED9-34650C023C29}"/>
              </a:ext>
            </a:extLst>
          </p:cNvPr>
          <p:cNvSpPr>
            <a:spLocks noGrp="1"/>
          </p:cNvSpPr>
          <p:nvPr>
            <p:ph idx="1"/>
          </p:nvPr>
        </p:nvSpPr>
        <p:spPr>
          <a:xfrm>
            <a:off x="1141412" y="900332"/>
            <a:ext cx="9905999" cy="5838093"/>
          </a:xfrm>
        </p:spPr>
        <p:txBody>
          <a:bodyPr/>
          <a:lstStyle/>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RENAMING THE COLUMN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this section we rename the column to reduce the length so that it can be presentable. </a:t>
            </a:r>
            <a:endParaRPr lang="en-US" dirty="0"/>
          </a:p>
        </p:txBody>
      </p:sp>
      <p:pic>
        <p:nvPicPr>
          <p:cNvPr id="4" name="Picture 3">
            <a:extLst>
              <a:ext uri="{FF2B5EF4-FFF2-40B4-BE49-F238E27FC236}">
                <a16:creationId xmlns:a16="http://schemas.microsoft.com/office/drawing/2014/main" id="{6E927B2D-D64F-425A-9E41-CC2ACBFC07C7}"/>
              </a:ext>
            </a:extLst>
          </p:cNvPr>
          <p:cNvPicPr/>
          <p:nvPr/>
        </p:nvPicPr>
        <p:blipFill>
          <a:blip r:embed="rId2">
            <a:extLst>
              <a:ext uri="{28A0092B-C50C-407E-A947-70E740481C1C}">
                <a14:useLocalDpi xmlns:a14="http://schemas.microsoft.com/office/drawing/2010/main" val="0"/>
              </a:ext>
            </a:extLst>
          </a:blip>
          <a:stretch>
            <a:fillRect/>
          </a:stretch>
        </p:blipFill>
        <p:spPr>
          <a:xfrm>
            <a:off x="1284774" y="1766228"/>
            <a:ext cx="7296517" cy="4972197"/>
          </a:xfrm>
          <a:prstGeom prst="rect">
            <a:avLst/>
          </a:prstGeom>
        </p:spPr>
      </p:pic>
    </p:spTree>
    <p:extLst>
      <p:ext uri="{BB962C8B-B14F-4D97-AF65-F5344CB8AC3E}">
        <p14:creationId xmlns:p14="http://schemas.microsoft.com/office/powerpoint/2010/main" val="425194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DD7FB-752E-454D-BF4E-F8D08398ED0A}"/>
              </a:ext>
            </a:extLst>
          </p:cNvPr>
          <p:cNvSpPr>
            <a:spLocks noGrp="1"/>
          </p:cNvSpPr>
          <p:nvPr>
            <p:ph type="title"/>
          </p:nvPr>
        </p:nvSpPr>
        <p:spPr>
          <a:xfrm>
            <a:off x="1141413" y="274320"/>
            <a:ext cx="9905998" cy="837028"/>
          </a:xfrm>
        </p:spPr>
        <p:txBody>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C7B0BB3C-6BF0-459E-91B1-127495087375}"/>
              </a:ext>
            </a:extLst>
          </p:cNvPr>
          <p:cNvSpPr>
            <a:spLocks noGrp="1"/>
          </p:cNvSpPr>
          <p:nvPr>
            <p:ph idx="1"/>
          </p:nvPr>
        </p:nvSpPr>
        <p:spPr>
          <a:xfrm>
            <a:off x="1141413" y="1111348"/>
            <a:ext cx="9905999" cy="5472332"/>
          </a:xfrm>
        </p:spPr>
        <p:txBody>
          <a:bodyPr/>
          <a:lstStyle/>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DATA INFO</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We view the info of Detail data using the </a:t>
            </a:r>
            <a:r>
              <a:rPr lang="en-IN" sz="1800" i="1"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df.info()</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DESCRIBING DATA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B4128A35-0494-47FC-AC13-49AD0725A976}"/>
              </a:ext>
            </a:extLst>
          </p:cNvPr>
          <p:cNvPicPr/>
          <p:nvPr/>
        </p:nvPicPr>
        <p:blipFill>
          <a:blip r:embed="rId2">
            <a:extLst>
              <a:ext uri="{28A0092B-C50C-407E-A947-70E740481C1C}">
                <a14:useLocalDpi xmlns:a14="http://schemas.microsoft.com/office/drawing/2010/main" val="0"/>
              </a:ext>
            </a:extLst>
          </a:blip>
          <a:stretch>
            <a:fillRect/>
          </a:stretch>
        </p:blipFill>
        <p:spPr>
          <a:xfrm>
            <a:off x="1141413" y="2529912"/>
            <a:ext cx="8494956" cy="3814617"/>
          </a:xfrm>
          <a:prstGeom prst="rect">
            <a:avLst/>
          </a:prstGeom>
        </p:spPr>
      </p:pic>
    </p:spTree>
    <p:extLst>
      <p:ext uri="{BB962C8B-B14F-4D97-AF65-F5344CB8AC3E}">
        <p14:creationId xmlns:p14="http://schemas.microsoft.com/office/powerpoint/2010/main" val="1418156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D4CC2-7C02-4A49-81A8-6C71C5479A05}"/>
              </a:ext>
            </a:extLst>
          </p:cNvPr>
          <p:cNvSpPr>
            <a:spLocks noGrp="1"/>
          </p:cNvSpPr>
          <p:nvPr>
            <p:ph type="title"/>
          </p:nvPr>
        </p:nvSpPr>
        <p:spPr>
          <a:xfrm>
            <a:off x="1141413" y="391550"/>
            <a:ext cx="9905998" cy="675249"/>
          </a:xfrm>
        </p:spPr>
        <p:txBody>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114DA992-E244-4ACD-86C6-6C8C5349C4D6}"/>
              </a:ext>
            </a:extLst>
          </p:cNvPr>
          <p:cNvSpPr>
            <a:spLocks noGrp="1"/>
          </p:cNvSpPr>
          <p:nvPr>
            <p:ph idx="1"/>
          </p:nvPr>
        </p:nvSpPr>
        <p:spPr>
          <a:xfrm>
            <a:off x="1141412" y="1066798"/>
            <a:ext cx="9905999" cy="5516881"/>
          </a:xfrm>
        </p:spPr>
        <p:txBody>
          <a:bodyPr/>
          <a:lstStyle/>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DESCRIBE HEAT MAP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F7E3C2C9-ED6D-439B-9B10-391CD319F6D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41410" y="1533524"/>
            <a:ext cx="10112743" cy="5324475"/>
          </a:xfrm>
          <a:prstGeom prst="rect">
            <a:avLst/>
          </a:prstGeom>
          <a:noFill/>
          <a:ln>
            <a:noFill/>
          </a:ln>
        </p:spPr>
      </p:pic>
    </p:spTree>
    <p:extLst>
      <p:ext uri="{BB962C8B-B14F-4D97-AF65-F5344CB8AC3E}">
        <p14:creationId xmlns:p14="http://schemas.microsoft.com/office/powerpoint/2010/main" val="1800979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55C70-9418-4C1A-B80F-4F3826297545}"/>
              </a:ext>
            </a:extLst>
          </p:cNvPr>
          <p:cNvSpPr>
            <a:spLocks noGrp="1"/>
          </p:cNvSpPr>
          <p:nvPr>
            <p:ph type="title"/>
          </p:nvPr>
        </p:nvSpPr>
        <p:spPr>
          <a:xfrm>
            <a:off x="1143001" y="430947"/>
            <a:ext cx="9905998" cy="549100"/>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783EFBCD-6F4A-48BE-A0A3-7FBF2BFB8596}"/>
              </a:ext>
            </a:extLst>
          </p:cNvPr>
          <p:cNvSpPr>
            <a:spLocks noGrp="1"/>
          </p:cNvSpPr>
          <p:nvPr>
            <p:ph idx="1"/>
          </p:nvPr>
        </p:nvSpPr>
        <p:spPr>
          <a:xfrm>
            <a:off x="1141412" y="980046"/>
            <a:ext cx="9905999" cy="5688039"/>
          </a:xfrm>
        </p:spPr>
        <p:txBody>
          <a:bodyPr/>
          <a:lstStyle/>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NULL VALUE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we find that there is no missing value in the dataset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FB348A62-475B-4272-9346-C4CBD4A89C4C}"/>
              </a:ext>
            </a:extLst>
          </p:cNvPr>
          <p:cNvPicPr/>
          <p:nvPr/>
        </p:nvPicPr>
        <p:blipFill>
          <a:blip r:embed="rId2">
            <a:extLst>
              <a:ext uri="{28A0092B-C50C-407E-A947-70E740481C1C}">
                <a14:useLocalDpi xmlns:a14="http://schemas.microsoft.com/office/drawing/2010/main" val="0"/>
              </a:ext>
            </a:extLst>
          </a:blip>
          <a:stretch>
            <a:fillRect/>
          </a:stretch>
        </p:blipFill>
        <p:spPr>
          <a:xfrm>
            <a:off x="1276030" y="1402297"/>
            <a:ext cx="5856289" cy="3577665"/>
          </a:xfrm>
          <a:prstGeom prst="rect">
            <a:avLst/>
          </a:prstGeom>
        </p:spPr>
      </p:pic>
    </p:spTree>
    <p:extLst>
      <p:ext uri="{BB962C8B-B14F-4D97-AF65-F5344CB8AC3E}">
        <p14:creationId xmlns:p14="http://schemas.microsoft.com/office/powerpoint/2010/main" val="1714800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9193F-897D-4816-A724-29C6C540CD2D}"/>
              </a:ext>
            </a:extLst>
          </p:cNvPr>
          <p:cNvSpPr>
            <a:spLocks noGrp="1"/>
          </p:cNvSpPr>
          <p:nvPr>
            <p:ph type="title"/>
          </p:nvPr>
        </p:nvSpPr>
        <p:spPr>
          <a:xfrm>
            <a:off x="1141413" y="618518"/>
            <a:ext cx="9905998" cy="448281"/>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EFEAC868-E7A3-4776-8DB6-A8AD1D45ED78}"/>
              </a:ext>
            </a:extLst>
          </p:cNvPr>
          <p:cNvSpPr>
            <a:spLocks noGrp="1"/>
          </p:cNvSpPr>
          <p:nvPr>
            <p:ph idx="1"/>
          </p:nvPr>
        </p:nvSpPr>
        <p:spPr>
          <a:xfrm>
            <a:off x="1141412" y="1167618"/>
            <a:ext cx="9905999" cy="4623583"/>
          </a:xfrm>
        </p:spPr>
        <p:txBody>
          <a:bodyPr/>
          <a:lstStyle/>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ZERO VALUE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we find that there is no zero value in the dataset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CDB2C12F-4ED3-4532-A387-B58FB1F25293}"/>
              </a:ext>
            </a:extLst>
          </p:cNvPr>
          <p:cNvPicPr/>
          <p:nvPr/>
        </p:nvPicPr>
        <p:blipFill>
          <a:blip r:embed="rId2">
            <a:extLst>
              <a:ext uri="{28A0092B-C50C-407E-A947-70E740481C1C}">
                <a14:useLocalDpi xmlns:a14="http://schemas.microsoft.com/office/drawing/2010/main" val="0"/>
              </a:ext>
            </a:extLst>
          </a:blip>
          <a:stretch>
            <a:fillRect/>
          </a:stretch>
        </p:blipFill>
        <p:spPr>
          <a:xfrm>
            <a:off x="1269829" y="1668829"/>
            <a:ext cx="5412325" cy="3142322"/>
          </a:xfrm>
          <a:prstGeom prst="rect">
            <a:avLst/>
          </a:prstGeom>
        </p:spPr>
      </p:pic>
    </p:spTree>
    <p:extLst>
      <p:ext uri="{BB962C8B-B14F-4D97-AF65-F5344CB8AC3E}">
        <p14:creationId xmlns:p14="http://schemas.microsoft.com/office/powerpoint/2010/main" val="1264647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A5CD3-3FC5-4F9E-9E69-A87965A49C08}"/>
              </a:ext>
            </a:extLst>
          </p:cNvPr>
          <p:cNvSpPr>
            <a:spLocks noGrp="1"/>
          </p:cNvSpPr>
          <p:nvPr>
            <p:ph type="title"/>
          </p:nvPr>
        </p:nvSpPr>
        <p:spPr>
          <a:xfrm>
            <a:off x="1141413" y="260252"/>
            <a:ext cx="9905998" cy="724486"/>
          </a:xfrm>
        </p:spPr>
        <p:txBody>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113EBE38-12A5-4F65-BE0F-AA1858473605}"/>
              </a:ext>
            </a:extLst>
          </p:cNvPr>
          <p:cNvSpPr>
            <a:spLocks noGrp="1"/>
          </p:cNvSpPr>
          <p:nvPr>
            <p:ph idx="1"/>
          </p:nvPr>
        </p:nvSpPr>
        <p:spPr>
          <a:xfrm>
            <a:off x="1141412" y="829995"/>
            <a:ext cx="9905999" cy="5767754"/>
          </a:xfrm>
        </p:spPr>
        <p:txBody>
          <a:bodyPr/>
          <a:lstStyle/>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SKEWNESS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9753AAAB-B859-46A4-8F60-F94A437B2B14}"/>
              </a:ext>
            </a:extLst>
          </p:cNvPr>
          <p:cNvPicPr/>
          <p:nvPr/>
        </p:nvPicPr>
        <p:blipFill>
          <a:blip r:embed="rId2">
            <a:extLst>
              <a:ext uri="{28A0092B-C50C-407E-A947-70E740481C1C}">
                <a14:useLocalDpi xmlns:a14="http://schemas.microsoft.com/office/drawing/2010/main" val="0"/>
              </a:ext>
            </a:extLst>
          </a:blip>
          <a:stretch>
            <a:fillRect/>
          </a:stretch>
        </p:blipFill>
        <p:spPr>
          <a:xfrm>
            <a:off x="1396902" y="1227407"/>
            <a:ext cx="3517900" cy="5286375"/>
          </a:xfrm>
          <a:prstGeom prst="rect">
            <a:avLst/>
          </a:prstGeom>
        </p:spPr>
      </p:pic>
      <p:pic>
        <p:nvPicPr>
          <p:cNvPr id="5" name="Picture 4">
            <a:extLst>
              <a:ext uri="{FF2B5EF4-FFF2-40B4-BE49-F238E27FC236}">
                <a16:creationId xmlns:a16="http://schemas.microsoft.com/office/drawing/2014/main" id="{14AE304F-FC28-4E94-8169-B00BF54649FE}"/>
              </a:ext>
            </a:extLst>
          </p:cNvPr>
          <p:cNvPicPr/>
          <p:nvPr/>
        </p:nvPicPr>
        <p:blipFill>
          <a:blip r:embed="rId3">
            <a:extLst>
              <a:ext uri="{28A0092B-C50C-407E-A947-70E740481C1C}">
                <a14:useLocalDpi xmlns:a14="http://schemas.microsoft.com/office/drawing/2010/main" val="0"/>
              </a:ext>
            </a:extLst>
          </a:blip>
          <a:stretch>
            <a:fillRect/>
          </a:stretch>
        </p:blipFill>
        <p:spPr>
          <a:xfrm>
            <a:off x="6095999" y="1227407"/>
            <a:ext cx="5560255" cy="5286374"/>
          </a:xfrm>
          <a:prstGeom prst="rect">
            <a:avLst/>
          </a:prstGeom>
        </p:spPr>
      </p:pic>
    </p:spTree>
    <p:extLst>
      <p:ext uri="{BB962C8B-B14F-4D97-AF65-F5344CB8AC3E}">
        <p14:creationId xmlns:p14="http://schemas.microsoft.com/office/powerpoint/2010/main" val="320697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1B16F-BD8C-4831-BD07-CDC7AF6B0AF4}"/>
              </a:ext>
            </a:extLst>
          </p:cNvPr>
          <p:cNvSpPr>
            <a:spLocks noGrp="1"/>
          </p:cNvSpPr>
          <p:nvPr>
            <p:ph type="title"/>
          </p:nvPr>
        </p:nvSpPr>
        <p:spPr>
          <a:xfrm>
            <a:off x="1141413" y="182881"/>
            <a:ext cx="9905998" cy="407963"/>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CFF8689D-D5DD-415B-864D-AAD25E312A1C}"/>
              </a:ext>
            </a:extLst>
          </p:cNvPr>
          <p:cNvSpPr>
            <a:spLocks noGrp="1"/>
          </p:cNvSpPr>
          <p:nvPr>
            <p:ph idx="1"/>
          </p:nvPr>
        </p:nvSpPr>
        <p:spPr>
          <a:xfrm>
            <a:off x="1141412" y="590844"/>
            <a:ext cx="9905999" cy="6084275"/>
          </a:xfrm>
        </p:spPr>
        <p:txBody>
          <a:bodyPr/>
          <a:lstStyle/>
          <a:p>
            <a:r>
              <a:rPr lang="en-IN" sz="1800" b="1" dirty="0">
                <a:effectLst/>
                <a:latin typeface="Calibri" panose="020F0502020204030204" pitchFamily="34" charset="0"/>
                <a:ea typeface="Calibri" panose="020F0502020204030204" pitchFamily="34" charset="0"/>
                <a:cs typeface="Times New Roman" panose="02020603050405020304" pitchFamily="18" charset="0"/>
              </a:rPr>
              <a:t>CORRELATION HEAT MAP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E7EF8188-667D-484E-BDF1-460F7745D9A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0505" y="858129"/>
            <a:ext cx="7892806" cy="5816989"/>
          </a:xfrm>
          <a:prstGeom prst="rect">
            <a:avLst/>
          </a:prstGeom>
          <a:noFill/>
          <a:ln>
            <a:noFill/>
          </a:ln>
        </p:spPr>
      </p:pic>
    </p:spTree>
    <p:extLst>
      <p:ext uri="{BB962C8B-B14F-4D97-AF65-F5344CB8AC3E}">
        <p14:creationId xmlns:p14="http://schemas.microsoft.com/office/powerpoint/2010/main" val="2978489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55B3F-0C62-49A1-ABE6-CC0AD465813F}"/>
              </a:ext>
            </a:extLst>
          </p:cNvPr>
          <p:cNvSpPr>
            <a:spLocks noGrp="1"/>
          </p:cNvSpPr>
          <p:nvPr>
            <p:ph type="title"/>
          </p:nvPr>
        </p:nvSpPr>
        <p:spPr>
          <a:xfrm>
            <a:off x="1141412" y="218049"/>
            <a:ext cx="9905998" cy="731980"/>
          </a:xfrm>
        </p:spPr>
        <p:txBody>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6C42224D-F704-41ED-8484-7F9E168477ED}"/>
              </a:ext>
            </a:extLst>
          </p:cNvPr>
          <p:cNvSpPr>
            <a:spLocks noGrp="1"/>
          </p:cNvSpPr>
          <p:nvPr>
            <p:ph idx="1"/>
          </p:nvPr>
        </p:nvSpPr>
        <p:spPr>
          <a:xfrm>
            <a:off x="1141412" y="1575582"/>
            <a:ext cx="10731720" cy="5064369"/>
          </a:xfrm>
        </p:spPr>
        <p:txBody>
          <a:bodyPr/>
          <a:lstStyle/>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CORRELATION HEAT MAP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Correlation Heat map, we have the following observations: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Most of the high correlation is concentrated between “Ease to Read and Understand Website” and “Privacy of Customers”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Screen Size and Operating System has the lowest Correlation.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“Convenient Payment Method” and “User Friendly Interface” have high Correlation.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67463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2AE69-EC85-47AB-8E51-D09E00BBE604}"/>
              </a:ext>
            </a:extLst>
          </p:cNvPr>
          <p:cNvSpPr>
            <a:spLocks noGrp="1"/>
          </p:cNvSpPr>
          <p:nvPr>
            <p:ph type="title"/>
          </p:nvPr>
        </p:nvSpPr>
        <p:spPr>
          <a:xfrm>
            <a:off x="1141413" y="112081"/>
            <a:ext cx="9905998" cy="605371"/>
          </a:xfrm>
        </p:spPr>
        <p:txBody>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C26DCCDB-D5E5-4CAB-A3FD-808E1C5D7902}"/>
              </a:ext>
            </a:extLst>
          </p:cNvPr>
          <p:cNvSpPr>
            <a:spLocks noGrp="1"/>
          </p:cNvSpPr>
          <p:nvPr>
            <p:ph idx="1"/>
          </p:nvPr>
        </p:nvSpPr>
        <p:spPr>
          <a:xfrm>
            <a:off x="1141412" y="717452"/>
            <a:ext cx="9905999" cy="6028467"/>
          </a:xfrm>
        </p:spPr>
        <p:txBody>
          <a:bodyPr>
            <a:normAutofit lnSpcReduction="10000"/>
          </a:bodyPr>
          <a:lstStyle/>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PLOTS AND GRAPHS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we have observe the following: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“21-30 years” age group has the highest count.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Bangalore has the highest count in “21-30 years” age group.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“51 years and above” age group has the lowest count.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Bangalore have no user in “31-40 years” age group.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Gurgaon and Moradabad have no user in “21-30 years” age group.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Solan, Gurgaon and Moradabad have no user in “41-50 years” age group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ACAD5B5E-D05F-45F3-AFE5-ED75C11EFFE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05547" y="1041155"/>
            <a:ext cx="7800828" cy="3121804"/>
          </a:xfrm>
          <a:prstGeom prst="rect">
            <a:avLst/>
          </a:prstGeom>
          <a:noFill/>
          <a:ln>
            <a:noFill/>
          </a:ln>
        </p:spPr>
      </p:pic>
      <p:sp>
        <p:nvSpPr>
          <p:cNvPr id="5" name="Text Box 2">
            <a:extLst>
              <a:ext uri="{FF2B5EF4-FFF2-40B4-BE49-F238E27FC236}">
                <a16:creationId xmlns:a16="http://schemas.microsoft.com/office/drawing/2014/main" id="{CF5A5368-AC72-4B21-A9EE-7F2751BD743C}"/>
              </a:ext>
            </a:extLst>
          </p:cNvPr>
          <p:cNvSpPr txBox="1">
            <a:spLocks noChangeArrowheads="1"/>
          </p:cNvSpPr>
          <p:nvPr/>
        </p:nvSpPr>
        <p:spPr bwMode="auto">
          <a:xfrm>
            <a:off x="2542149" y="4162959"/>
            <a:ext cx="2971800" cy="257175"/>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Value Count of Age with respect to City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58888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CADAE-DDE1-494D-B291-8AA26C1A25EB}"/>
              </a:ext>
            </a:extLst>
          </p:cNvPr>
          <p:cNvSpPr>
            <a:spLocks noGrp="1"/>
          </p:cNvSpPr>
          <p:nvPr>
            <p:ph type="title"/>
          </p:nvPr>
        </p:nvSpPr>
        <p:spPr>
          <a:xfrm>
            <a:off x="1141413" y="211015"/>
            <a:ext cx="9905998" cy="616633"/>
          </a:xfrm>
        </p:spPr>
        <p:txBody>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6" name="Text Box 2">
            <a:extLst>
              <a:ext uri="{FF2B5EF4-FFF2-40B4-BE49-F238E27FC236}">
                <a16:creationId xmlns:a16="http://schemas.microsoft.com/office/drawing/2014/main" id="{3DA29E53-4BE7-4119-960B-87812DB7C111}"/>
              </a:ext>
            </a:extLst>
          </p:cNvPr>
          <p:cNvSpPr txBox="1">
            <a:spLocks noChangeArrowheads="1"/>
          </p:cNvSpPr>
          <p:nvPr/>
        </p:nvSpPr>
        <p:spPr bwMode="auto">
          <a:xfrm>
            <a:off x="3639820" y="4178105"/>
            <a:ext cx="4543425" cy="257175"/>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Value Count of Online Purchase in last 1 Year with respect to City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28D4B798-C1B0-46B0-9126-5892265815C8}"/>
              </a:ext>
            </a:extLst>
          </p:cNvPr>
          <p:cNvSpPr>
            <a:spLocks noGrp="1"/>
          </p:cNvSpPr>
          <p:nvPr>
            <p:ph idx="1"/>
          </p:nvPr>
        </p:nvSpPr>
        <p:spPr>
          <a:xfrm>
            <a:off x="1141412" y="647114"/>
            <a:ext cx="9905999" cy="6210885"/>
          </a:xfrm>
        </p:spPr>
        <p:txBody>
          <a:bodyPr/>
          <a:lstStyle/>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of we have observe the following: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The highest count of data lies in “Less than 10 times” value in which Delhi takes a lead and Moradabad has zero count.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Delhi has the highest combine count from all group.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Moradabad has zero combine count from all group. </a:t>
            </a:r>
          </a:p>
          <a:p>
            <a:pPr marL="342900" indent="-342900">
              <a:lnSpc>
                <a:spcPct val="107000"/>
              </a:lnSpc>
              <a:spcBef>
                <a:spcPts val="0"/>
              </a:spcBef>
              <a:spcAft>
                <a:spcPts val="800"/>
              </a:spcAft>
              <a:buFont typeface="Wingdings" panose="05000000000000000000" pitchFamily="2"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“42 times and above” group has the lowest count.</a:t>
            </a:r>
            <a:endParaRPr lang="en-US" sz="1800" dirty="0"/>
          </a:p>
          <a:p>
            <a:pPr marL="342900" marR="0" lvl="0" indent="-342900">
              <a:lnSpc>
                <a:spcPct val="107000"/>
              </a:lnSpc>
              <a:spcBef>
                <a:spcPts val="0"/>
              </a:spcBef>
              <a:spcAft>
                <a:spcPts val="800"/>
              </a:spcAft>
              <a:buFont typeface="Wingdings" panose="05000000000000000000" pitchFamily="2" charset="2"/>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973CF6D8-C926-45D7-A2F0-3EE55D9CE90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021509" y="647114"/>
            <a:ext cx="7780045" cy="3530991"/>
          </a:xfrm>
          <a:prstGeom prst="rect">
            <a:avLst/>
          </a:prstGeom>
          <a:noFill/>
          <a:ln>
            <a:noFill/>
          </a:ln>
        </p:spPr>
      </p:pic>
    </p:spTree>
    <p:extLst>
      <p:ext uri="{BB962C8B-B14F-4D97-AF65-F5344CB8AC3E}">
        <p14:creationId xmlns:p14="http://schemas.microsoft.com/office/powerpoint/2010/main" val="2714318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1ABD-952F-4174-9C0B-7D8A59ECAAA4}"/>
              </a:ext>
            </a:extLst>
          </p:cNvPr>
          <p:cNvSpPr>
            <a:spLocks noGrp="1"/>
          </p:cNvSpPr>
          <p:nvPr>
            <p:ph type="title"/>
          </p:nvPr>
        </p:nvSpPr>
        <p:spPr>
          <a:xfrm>
            <a:off x="1141413" y="274321"/>
            <a:ext cx="9905998" cy="448281"/>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D35A0FB1-98F0-4E73-A91F-095F32A3C365}"/>
              </a:ext>
            </a:extLst>
          </p:cNvPr>
          <p:cNvSpPr>
            <a:spLocks noGrp="1"/>
          </p:cNvSpPr>
          <p:nvPr>
            <p:ph idx="1"/>
          </p:nvPr>
        </p:nvSpPr>
        <p:spPr>
          <a:xfrm>
            <a:off x="1141412" y="722602"/>
            <a:ext cx="9905999" cy="5861077"/>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of we have observe the following: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“Above 4 years” has the highest count.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Delhi have the highest combine count in all groups.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err="1">
                <a:effectLst/>
                <a:latin typeface="Calibri" panose="020F0502020204030204" pitchFamily="34" charset="0"/>
                <a:ea typeface="Calibri" panose="020F0502020204030204" pitchFamily="34" charset="0"/>
                <a:cs typeface="Times New Roman" panose="02020603050405020304" pitchFamily="18" charset="0"/>
              </a:rPr>
              <a:t>Bulandshahr</a:t>
            </a:r>
            <a:r>
              <a:rPr lang="en-IN" sz="1800" dirty="0">
                <a:effectLst/>
                <a:latin typeface="Calibri" panose="020F0502020204030204" pitchFamily="34" charset="0"/>
                <a:ea typeface="Calibri" panose="020F0502020204030204" pitchFamily="34" charset="0"/>
                <a:cs typeface="Times New Roman" panose="02020603050405020304" pitchFamily="18" charset="0"/>
              </a:rPr>
              <a:t> have the lowest combine count among all the groups.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44B64B09-B08E-4870-892E-23DF6E46BFA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605380" y="722602"/>
            <a:ext cx="7368614" cy="3511773"/>
          </a:xfrm>
          <a:prstGeom prst="rect">
            <a:avLst/>
          </a:prstGeom>
          <a:noFill/>
          <a:ln>
            <a:noFill/>
          </a:ln>
        </p:spPr>
      </p:pic>
      <p:sp>
        <p:nvSpPr>
          <p:cNvPr id="5" name="Text Box 2">
            <a:extLst>
              <a:ext uri="{FF2B5EF4-FFF2-40B4-BE49-F238E27FC236}">
                <a16:creationId xmlns:a16="http://schemas.microsoft.com/office/drawing/2014/main" id="{56734F5C-0242-4026-B857-8C7F67526C70}"/>
              </a:ext>
            </a:extLst>
          </p:cNvPr>
          <p:cNvSpPr txBox="1">
            <a:spLocks noChangeArrowheads="1"/>
          </p:cNvSpPr>
          <p:nvPr/>
        </p:nvSpPr>
        <p:spPr bwMode="auto">
          <a:xfrm>
            <a:off x="4017974" y="4337558"/>
            <a:ext cx="4478912" cy="345098"/>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Value Count of Duration of Online Shopping with respect to City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55099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1ABD-952F-4174-9C0B-7D8A59ECAAA4}"/>
              </a:ext>
            </a:extLst>
          </p:cNvPr>
          <p:cNvSpPr>
            <a:spLocks noGrp="1"/>
          </p:cNvSpPr>
          <p:nvPr>
            <p:ph type="title"/>
          </p:nvPr>
        </p:nvSpPr>
        <p:spPr>
          <a:xfrm>
            <a:off x="1141413" y="274321"/>
            <a:ext cx="9905998" cy="448281"/>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D35A0FB1-98F0-4E73-A91F-095F32A3C365}"/>
              </a:ext>
            </a:extLst>
          </p:cNvPr>
          <p:cNvSpPr>
            <a:spLocks noGrp="1"/>
          </p:cNvSpPr>
          <p:nvPr>
            <p:ph idx="1"/>
          </p:nvPr>
        </p:nvSpPr>
        <p:spPr>
          <a:xfrm>
            <a:off x="1141412" y="722602"/>
            <a:ext cx="9905999" cy="5861077"/>
          </a:xfrm>
        </p:spPr>
        <p:txBody>
          <a:bodyPr/>
          <a:lstStyle/>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of we have observe the following: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Female have the highest combine count among all the Cities.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Solan and Meerut have zero Male Count.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Moradabad and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Bulandshahr</a:t>
            </a:r>
            <a:r>
              <a:rPr lang="en-IN" sz="1800" dirty="0">
                <a:effectLst/>
                <a:latin typeface="Calibri" panose="020F0502020204030204" pitchFamily="34" charset="0"/>
                <a:ea typeface="Calibri" panose="020F0502020204030204" pitchFamily="34" charset="0"/>
                <a:cs typeface="Times New Roman" panose="02020603050405020304" pitchFamily="18" charset="0"/>
              </a:rPr>
              <a:t> have zero Female Count.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Male and Female count is highly imbalance in Greater Noida.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3B5B8A33-3D1D-442C-BD7A-75A3205265D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194561" y="618563"/>
            <a:ext cx="8032652" cy="3418865"/>
          </a:xfrm>
          <a:prstGeom prst="rect">
            <a:avLst/>
          </a:prstGeom>
          <a:noFill/>
          <a:ln>
            <a:noFill/>
          </a:ln>
        </p:spPr>
      </p:pic>
      <p:sp>
        <p:nvSpPr>
          <p:cNvPr id="5" name="Text Box 2">
            <a:extLst>
              <a:ext uri="{FF2B5EF4-FFF2-40B4-BE49-F238E27FC236}">
                <a16:creationId xmlns:a16="http://schemas.microsoft.com/office/drawing/2014/main" id="{D94DE8A5-7F61-48AC-AF88-866E8871B4B7}"/>
              </a:ext>
            </a:extLst>
          </p:cNvPr>
          <p:cNvSpPr txBox="1">
            <a:spLocks noChangeArrowheads="1"/>
          </p:cNvSpPr>
          <p:nvPr/>
        </p:nvSpPr>
        <p:spPr bwMode="auto">
          <a:xfrm>
            <a:off x="3939174" y="4124495"/>
            <a:ext cx="4543425" cy="257175"/>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Value Count of City with respect to Gender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20034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1ABD-952F-4174-9C0B-7D8A59ECAAA4}"/>
              </a:ext>
            </a:extLst>
          </p:cNvPr>
          <p:cNvSpPr>
            <a:spLocks noGrp="1"/>
          </p:cNvSpPr>
          <p:nvPr>
            <p:ph type="title"/>
          </p:nvPr>
        </p:nvSpPr>
        <p:spPr>
          <a:xfrm>
            <a:off x="1141413" y="274321"/>
            <a:ext cx="9905998" cy="448281"/>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D35A0FB1-98F0-4E73-A91F-095F32A3C365}"/>
              </a:ext>
            </a:extLst>
          </p:cNvPr>
          <p:cNvSpPr>
            <a:spLocks noGrp="1"/>
          </p:cNvSpPr>
          <p:nvPr>
            <p:ph idx="1"/>
          </p:nvPr>
        </p:nvSpPr>
        <p:spPr>
          <a:xfrm>
            <a:off x="1141412" y="722602"/>
            <a:ext cx="10323757" cy="5861077"/>
          </a:xfrm>
        </p:spPr>
        <p:txBody>
          <a:bodyPr>
            <a:normAutofit lnSpcReduction="1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of we have observe the following: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Mobile internet has the highest count among all the modes of internet.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Dial-up is used in Delhi only.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Delhi has the highest access to Internet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Bef>
                <a:spcPts val="0"/>
              </a:spcBef>
              <a:spcAft>
                <a:spcPts val="800"/>
              </a:spcAft>
              <a:buFont typeface="Wingdings" panose="05000000000000000000" pitchFamily="2" charset="2"/>
              <a:buChar char=""/>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Bulandshahr</a:t>
            </a:r>
            <a:r>
              <a:rPr lang="en-US" sz="1800" dirty="0">
                <a:effectLst/>
                <a:latin typeface="Calibri" panose="020F0502020204030204" pitchFamily="34" charset="0"/>
                <a:ea typeface="Calibri" panose="020F0502020204030204" pitchFamily="34" charset="0"/>
                <a:cs typeface="Times New Roman" panose="02020603050405020304" pitchFamily="18" charset="0"/>
              </a:rPr>
              <a:t> has the lowest access to internet.</a:t>
            </a:r>
            <a:endParaRPr lang="en-US" sz="1800" dirty="0"/>
          </a:p>
        </p:txBody>
      </p:sp>
      <p:pic>
        <p:nvPicPr>
          <p:cNvPr id="4" name="Picture 3">
            <a:extLst>
              <a:ext uri="{FF2B5EF4-FFF2-40B4-BE49-F238E27FC236}">
                <a16:creationId xmlns:a16="http://schemas.microsoft.com/office/drawing/2014/main" id="{48BD3B70-6C53-4AC4-9B7A-7D1A3D64270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039815" y="722601"/>
            <a:ext cx="8707902" cy="3469571"/>
          </a:xfrm>
          <a:prstGeom prst="rect">
            <a:avLst/>
          </a:prstGeom>
          <a:noFill/>
          <a:ln>
            <a:noFill/>
          </a:ln>
        </p:spPr>
      </p:pic>
      <p:sp>
        <p:nvSpPr>
          <p:cNvPr id="5" name="Text Box 2">
            <a:extLst>
              <a:ext uri="{FF2B5EF4-FFF2-40B4-BE49-F238E27FC236}">
                <a16:creationId xmlns:a16="http://schemas.microsoft.com/office/drawing/2014/main" id="{E6CFD49C-0C5C-4E10-BA5A-09B7ECF92D37}"/>
              </a:ext>
            </a:extLst>
          </p:cNvPr>
          <p:cNvSpPr txBox="1">
            <a:spLocks noChangeArrowheads="1"/>
          </p:cNvSpPr>
          <p:nvPr/>
        </p:nvSpPr>
        <p:spPr bwMode="auto">
          <a:xfrm>
            <a:off x="4031577" y="4316895"/>
            <a:ext cx="4543425" cy="257175"/>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Value Count of Mode of Internet with respect to City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25046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1ABD-952F-4174-9C0B-7D8A59ECAAA4}"/>
              </a:ext>
            </a:extLst>
          </p:cNvPr>
          <p:cNvSpPr>
            <a:spLocks noGrp="1"/>
          </p:cNvSpPr>
          <p:nvPr>
            <p:ph type="title"/>
          </p:nvPr>
        </p:nvSpPr>
        <p:spPr>
          <a:xfrm>
            <a:off x="1141413" y="274321"/>
            <a:ext cx="9905998" cy="448281"/>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D35A0FB1-98F0-4E73-A91F-095F32A3C365}"/>
              </a:ext>
            </a:extLst>
          </p:cNvPr>
          <p:cNvSpPr>
            <a:spLocks noGrp="1"/>
          </p:cNvSpPr>
          <p:nvPr>
            <p:ph idx="1"/>
          </p:nvPr>
        </p:nvSpPr>
        <p:spPr>
          <a:xfrm>
            <a:off x="675250" y="1237956"/>
            <a:ext cx="10747716" cy="5472333"/>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of we have observe the following: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Female has the highest count among all the device usage.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Female do not use tablet.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Smartphone is the most common device.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Desktop is usage is almost equal.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9245CD16-75B2-4E91-A56C-55DA318AB43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902707" y="722602"/>
            <a:ext cx="6592985" cy="3469570"/>
          </a:xfrm>
          <a:prstGeom prst="rect">
            <a:avLst/>
          </a:prstGeom>
          <a:noFill/>
          <a:ln>
            <a:noFill/>
          </a:ln>
        </p:spPr>
      </p:pic>
      <p:sp>
        <p:nvSpPr>
          <p:cNvPr id="5" name="Text Box 2">
            <a:extLst>
              <a:ext uri="{FF2B5EF4-FFF2-40B4-BE49-F238E27FC236}">
                <a16:creationId xmlns:a16="http://schemas.microsoft.com/office/drawing/2014/main" id="{925A74ED-D7FD-47CF-B5AD-987D93E17C42}"/>
              </a:ext>
            </a:extLst>
          </p:cNvPr>
          <p:cNvSpPr txBox="1">
            <a:spLocks noChangeArrowheads="1"/>
          </p:cNvSpPr>
          <p:nvPr/>
        </p:nvSpPr>
        <p:spPr bwMode="auto">
          <a:xfrm>
            <a:off x="4246318" y="4295355"/>
            <a:ext cx="4543425" cy="257175"/>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Value Count of Value Count of Device Used with respect to Gender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86852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1ABD-952F-4174-9C0B-7D8A59ECAAA4}"/>
              </a:ext>
            </a:extLst>
          </p:cNvPr>
          <p:cNvSpPr>
            <a:spLocks noGrp="1"/>
          </p:cNvSpPr>
          <p:nvPr>
            <p:ph type="title"/>
          </p:nvPr>
        </p:nvSpPr>
        <p:spPr>
          <a:xfrm>
            <a:off x="1141413" y="274321"/>
            <a:ext cx="9905998" cy="448281"/>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D35A0FB1-98F0-4E73-A91F-095F32A3C365}"/>
              </a:ext>
            </a:extLst>
          </p:cNvPr>
          <p:cNvSpPr>
            <a:spLocks noGrp="1"/>
          </p:cNvSpPr>
          <p:nvPr>
            <p:ph idx="1"/>
          </p:nvPr>
        </p:nvSpPr>
        <p:spPr>
          <a:xfrm>
            <a:off x="1141412" y="618978"/>
            <a:ext cx="9905999" cy="5964701"/>
          </a:xfrm>
        </p:spPr>
        <p:txBody>
          <a:bodyPr>
            <a:normAutofit lnSpcReduction="1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of we have observe the following: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Smartphone is the most common device.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Bangalore has the highest use of Smartphone.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Smartphone usage in Delhi and Greater Noda is the same.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Tablet is least popular device.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6FD2CD24-8BAF-41EB-8069-76F2655C8F8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702191" y="618978"/>
            <a:ext cx="8539089" cy="3868616"/>
          </a:xfrm>
          <a:prstGeom prst="rect">
            <a:avLst/>
          </a:prstGeom>
          <a:noFill/>
          <a:ln>
            <a:noFill/>
          </a:ln>
        </p:spPr>
      </p:pic>
      <p:sp>
        <p:nvSpPr>
          <p:cNvPr id="5" name="Text Box 2">
            <a:extLst>
              <a:ext uri="{FF2B5EF4-FFF2-40B4-BE49-F238E27FC236}">
                <a16:creationId xmlns:a16="http://schemas.microsoft.com/office/drawing/2014/main" id="{D973875D-EE0D-4D3D-91A8-B431F02CD55D}"/>
              </a:ext>
            </a:extLst>
          </p:cNvPr>
          <p:cNvSpPr txBox="1">
            <a:spLocks noChangeArrowheads="1"/>
          </p:cNvSpPr>
          <p:nvPr/>
        </p:nvSpPr>
        <p:spPr bwMode="auto">
          <a:xfrm>
            <a:off x="4021235" y="4487594"/>
            <a:ext cx="4543425" cy="257175"/>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'Value Count of Device Used with respect to City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94204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1ABD-952F-4174-9C0B-7D8A59ECAAA4}"/>
              </a:ext>
            </a:extLst>
          </p:cNvPr>
          <p:cNvSpPr>
            <a:spLocks noGrp="1"/>
          </p:cNvSpPr>
          <p:nvPr>
            <p:ph type="title"/>
          </p:nvPr>
        </p:nvSpPr>
        <p:spPr>
          <a:xfrm>
            <a:off x="1141413" y="274321"/>
            <a:ext cx="9905998" cy="448281"/>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D35A0FB1-98F0-4E73-A91F-095F32A3C365}"/>
              </a:ext>
            </a:extLst>
          </p:cNvPr>
          <p:cNvSpPr>
            <a:spLocks noGrp="1"/>
          </p:cNvSpPr>
          <p:nvPr>
            <p:ph idx="1"/>
          </p:nvPr>
        </p:nvSpPr>
        <p:spPr>
          <a:xfrm>
            <a:off x="1141412" y="722602"/>
            <a:ext cx="9905999" cy="5861077"/>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of we have observe the following: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Female has the highest count among all the group.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Male has highest count in “Agree”.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68465449-9043-465B-B14F-985B4C1912A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913206" y="722602"/>
            <a:ext cx="8482819" cy="4004143"/>
          </a:xfrm>
          <a:prstGeom prst="rect">
            <a:avLst/>
          </a:prstGeom>
          <a:noFill/>
          <a:ln>
            <a:noFill/>
          </a:ln>
        </p:spPr>
      </p:pic>
      <p:sp>
        <p:nvSpPr>
          <p:cNvPr id="5" name="Text Box 2">
            <a:extLst>
              <a:ext uri="{FF2B5EF4-FFF2-40B4-BE49-F238E27FC236}">
                <a16:creationId xmlns:a16="http://schemas.microsoft.com/office/drawing/2014/main" id="{BDB189E6-BFDA-4E2A-9ACE-C661609CD1FD}"/>
              </a:ext>
            </a:extLst>
          </p:cNvPr>
          <p:cNvSpPr txBox="1">
            <a:spLocks noChangeArrowheads="1"/>
          </p:cNvSpPr>
          <p:nvPr/>
        </p:nvSpPr>
        <p:spPr bwMode="auto">
          <a:xfrm>
            <a:off x="2684461" y="4722285"/>
            <a:ext cx="6819900" cy="438150"/>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Value Count of "18 The content on the website must be easy to read and understand" with respect to Gender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26503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1ABD-952F-4174-9C0B-7D8A59ECAAA4}"/>
              </a:ext>
            </a:extLst>
          </p:cNvPr>
          <p:cNvSpPr>
            <a:spLocks noGrp="1"/>
          </p:cNvSpPr>
          <p:nvPr>
            <p:ph type="title"/>
          </p:nvPr>
        </p:nvSpPr>
        <p:spPr>
          <a:xfrm>
            <a:off x="1141413" y="274321"/>
            <a:ext cx="9905998" cy="448281"/>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D35A0FB1-98F0-4E73-A91F-095F32A3C365}"/>
              </a:ext>
            </a:extLst>
          </p:cNvPr>
          <p:cNvSpPr>
            <a:spLocks noGrp="1"/>
          </p:cNvSpPr>
          <p:nvPr>
            <p:ph idx="1"/>
          </p:nvPr>
        </p:nvSpPr>
        <p:spPr>
          <a:xfrm>
            <a:off x="1141412" y="722602"/>
            <a:ext cx="9905999" cy="5861077"/>
          </a:xfrm>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of we have observe the following: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Female has the highest count among all the group.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Male has highest count in “Indifferent”.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A1E75F40-716D-4210-8CBB-4E1D5FE9C6C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341060" y="722602"/>
            <a:ext cx="7253106" cy="3722789"/>
          </a:xfrm>
          <a:prstGeom prst="rect">
            <a:avLst/>
          </a:prstGeom>
          <a:noFill/>
          <a:ln>
            <a:noFill/>
          </a:ln>
        </p:spPr>
      </p:pic>
      <p:sp>
        <p:nvSpPr>
          <p:cNvPr id="5" name="Text Box 2">
            <a:extLst>
              <a:ext uri="{FF2B5EF4-FFF2-40B4-BE49-F238E27FC236}">
                <a16:creationId xmlns:a16="http://schemas.microsoft.com/office/drawing/2014/main" id="{EEDCF27F-7513-4B0A-9C0F-AD0187755116}"/>
              </a:ext>
            </a:extLst>
          </p:cNvPr>
          <p:cNvSpPr txBox="1">
            <a:spLocks noChangeArrowheads="1"/>
          </p:cNvSpPr>
          <p:nvPr/>
        </p:nvSpPr>
        <p:spPr bwMode="auto">
          <a:xfrm>
            <a:off x="3213098" y="4598250"/>
            <a:ext cx="5762625" cy="295275"/>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Value Count of Information on similar product with respect to Gender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15167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1ABD-952F-4174-9C0B-7D8A59ECAAA4}"/>
              </a:ext>
            </a:extLst>
          </p:cNvPr>
          <p:cNvSpPr>
            <a:spLocks noGrp="1"/>
          </p:cNvSpPr>
          <p:nvPr>
            <p:ph type="title"/>
          </p:nvPr>
        </p:nvSpPr>
        <p:spPr>
          <a:xfrm>
            <a:off x="1141413" y="274321"/>
            <a:ext cx="9905998" cy="448281"/>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D35A0FB1-98F0-4E73-A91F-095F32A3C365}"/>
              </a:ext>
            </a:extLst>
          </p:cNvPr>
          <p:cNvSpPr>
            <a:spLocks noGrp="1"/>
          </p:cNvSpPr>
          <p:nvPr>
            <p:ph idx="1"/>
          </p:nvPr>
        </p:nvSpPr>
        <p:spPr>
          <a:xfrm>
            <a:off x="1141412" y="722602"/>
            <a:ext cx="10506637" cy="5861077"/>
          </a:xfrm>
        </p:spPr>
        <p:txBody>
          <a:bodyPr>
            <a:normAutofit lnSpcReduction="1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of we have observe the following: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Delhi and Noida has the highest times in Online Shopping.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Greater Noida,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Merrut</a:t>
            </a:r>
            <a:r>
              <a:rPr lang="en-IN" sz="1800" dirty="0">
                <a:effectLst/>
                <a:latin typeface="Calibri" panose="020F0502020204030204" pitchFamily="34" charset="0"/>
                <a:ea typeface="Calibri" panose="020F0502020204030204" pitchFamily="34" charset="0"/>
                <a:cs typeface="Times New Roman" panose="02020603050405020304" pitchFamily="18" charset="0"/>
              </a:rPr>
              <a:t>, Ghaziabad and Solan has mostly Female Shoppers.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err="1">
                <a:effectLst/>
                <a:latin typeface="Calibri" panose="020F0502020204030204" pitchFamily="34" charset="0"/>
                <a:ea typeface="Calibri" panose="020F0502020204030204" pitchFamily="34" charset="0"/>
                <a:cs typeface="Times New Roman" panose="02020603050405020304" pitchFamily="18" charset="0"/>
              </a:rPr>
              <a:t>Bulandshshr</a:t>
            </a:r>
            <a:r>
              <a:rPr lang="en-IN" sz="1800" dirty="0">
                <a:effectLst/>
                <a:latin typeface="Calibri" panose="020F0502020204030204" pitchFamily="34" charset="0"/>
                <a:ea typeface="Calibri" panose="020F0502020204030204" pitchFamily="34" charset="0"/>
                <a:cs typeface="Times New Roman" panose="02020603050405020304" pitchFamily="18" charset="0"/>
              </a:rPr>
              <a:t> and Moradabad has mostly Male Shoppers.</a:t>
            </a:r>
          </a:p>
          <a:p>
            <a:pPr marL="342900" indent="-342900">
              <a:lnSpc>
                <a:spcPct val="107000"/>
              </a:lnSpc>
              <a:spcBef>
                <a:spcPts val="0"/>
              </a:spcBef>
              <a:spcAft>
                <a:spcPts val="800"/>
              </a:spcAft>
              <a:buFont typeface="Wingdings" panose="05000000000000000000" pitchFamily="2" charset="2"/>
              <a:buChar char=""/>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Bulandshshr</a:t>
            </a:r>
            <a:r>
              <a:rPr lang="en-US" sz="1800" dirty="0">
                <a:effectLst/>
                <a:latin typeface="Calibri" panose="020F0502020204030204" pitchFamily="34" charset="0"/>
                <a:ea typeface="Calibri" panose="020F0502020204030204" pitchFamily="34" charset="0"/>
                <a:cs typeface="Times New Roman" panose="02020603050405020304" pitchFamily="18" charset="0"/>
              </a:rPr>
              <a:t> has the least shopper among groups.</a:t>
            </a:r>
            <a:endParaRPr lang="en-US" sz="1800" dirty="0"/>
          </a:p>
          <a:p>
            <a:pPr marL="342900" marR="0" lvl="0" indent="-342900">
              <a:lnSpc>
                <a:spcPct val="107000"/>
              </a:lnSpc>
              <a:spcBef>
                <a:spcPts val="0"/>
              </a:spcBef>
              <a:spcAft>
                <a:spcPts val="800"/>
              </a:spcAft>
              <a:buFont typeface="Wingdings" panose="05000000000000000000" pitchFamily="2" charset="2"/>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C17278C-A04A-4A73-9163-0854EA6E11C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518117" y="274321"/>
            <a:ext cx="7695028" cy="4142934"/>
          </a:xfrm>
          <a:prstGeom prst="rect">
            <a:avLst/>
          </a:prstGeom>
          <a:noFill/>
          <a:ln>
            <a:noFill/>
          </a:ln>
        </p:spPr>
      </p:pic>
      <p:sp>
        <p:nvSpPr>
          <p:cNvPr id="5" name="Text Box 2">
            <a:extLst>
              <a:ext uri="{FF2B5EF4-FFF2-40B4-BE49-F238E27FC236}">
                <a16:creationId xmlns:a16="http://schemas.microsoft.com/office/drawing/2014/main" id="{882D5155-7021-4186-8673-417D55FD1024}"/>
              </a:ext>
            </a:extLst>
          </p:cNvPr>
          <p:cNvSpPr txBox="1">
            <a:spLocks noChangeArrowheads="1"/>
          </p:cNvSpPr>
          <p:nvPr/>
        </p:nvSpPr>
        <p:spPr bwMode="auto">
          <a:xfrm>
            <a:off x="3327228" y="4515456"/>
            <a:ext cx="5762625" cy="276225"/>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Comparison between City and No. of times online shopping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96981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1ABD-952F-4174-9C0B-7D8A59ECAAA4}"/>
              </a:ext>
            </a:extLst>
          </p:cNvPr>
          <p:cNvSpPr>
            <a:spLocks noGrp="1"/>
          </p:cNvSpPr>
          <p:nvPr>
            <p:ph type="title"/>
          </p:nvPr>
        </p:nvSpPr>
        <p:spPr>
          <a:xfrm>
            <a:off x="1141413" y="168352"/>
            <a:ext cx="9905998" cy="448281"/>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D35A0FB1-98F0-4E73-A91F-095F32A3C365}"/>
              </a:ext>
            </a:extLst>
          </p:cNvPr>
          <p:cNvSpPr>
            <a:spLocks noGrp="1"/>
          </p:cNvSpPr>
          <p:nvPr>
            <p:ph idx="1"/>
          </p:nvPr>
        </p:nvSpPr>
        <p:spPr>
          <a:xfrm>
            <a:off x="1141412" y="616634"/>
            <a:ext cx="9905999" cy="5967046"/>
          </a:xfrm>
        </p:spPr>
        <p:txBody>
          <a:bodyPr>
            <a:normAutofit fontScale="92500" lnSpcReduction="2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of we have observe the following: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Shopper are mostly Female.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Shopping duration 3-4 years and Age Group of Less than 20 years are all Male.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A2C3DD1C-D724-4729-9858-77087356B15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661893" y="616633"/>
            <a:ext cx="7087017" cy="3477260"/>
          </a:xfrm>
          <a:prstGeom prst="rect">
            <a:avLst/>
          </a:prstGeom>
          <a:noFill/>
          <a:ln>
            <a:noFill/>
          </a:ln>
        </p:spPr>
      </p:pic>
      <p:sp>
        <p:nvSpPr>
          <p:cNvPr id="6" name="Text Box 2">
            <a:extLst>
              <a:ext uri="{FF2B5EF4-FFF2-40B4-BE49-F238E27FC236}">
                <a16:creationId xmlns:a16="http://schemas.microsoft.com/office/drawing/2014/main" id="{24F39D19-E361-463C-BB95-43B313B2D328}"/>
              </a:ext>
            </a:extLst>
          </p:cNvPr>
          <p:cNvSpPr txBox="1">
            <a:spLocks noChangeArrowheads="1"/>
          </p:cNvSpPr>
          <p:nvPr/>
        </p:nvSpPr>
        <p:spPr bwMode="auto">
          <a:xfrm>
            <a:off x="3213098" y="4416303"/>
            <a:ext cx="5762625" cy="276225"/>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Comparison between Shopping Duration and Age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12430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513C2-4147-4273-8789-92E89A35E682}"/>
              </a:ext>
            </a:extLst>
          </p:cNvPr>
          <p:cNvSpPr>
            <a:spLocks noGrp="1"/>
          </p:cNvSpPr>
          <p:nvPr>
            <p:ph type="title"/>
          </p:nvPr>
        </p:nvSpPr>
        <p:spPr>
          <a:xfrm>
            <a:off x="1141413" y="210555"/>
            <a:ext cx="9905998" cy="647574"/>
          </a:xfrm>
        </p:spPr>
        <p:txBody>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C37946B2-EFEC-476F-909E-9EAA48DB8856}"/>
              </a:ext>
            </a:extLst>
          </p:cNvPr>
          <p:cNvSpPr>
            <a:spLocks noGrp="1"/>
          </p:cNvSpPr>
          <p:nvPr>
            <p:ph idx="1"/>
          </p:nvPr>
        </p:nvSpPr>
        <p:spPr>
          <a:xfrm>
            <a:off x="1141412" y="1069144"/>
            <a:ext cx="9905999" cy="5788855"/>
          </a:xfrm>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marR="0" indent="0">
              <a:lnSpc>
                <a:spcPct val="107000"/>
              </a:lnSpc>
              <a:spcBef>
                <a:spcPts val="0"/>
              </a:spcBef>
              <a:spcAft>
                <a:spcPts val="8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of we have observe the following: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Smartphone has the highest duration.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Tablet has the least duration.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Tablet are used by Male only.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5" name="Picture 4">
            <a:extLst>
              <a:ext uri="{FF2B5EF4-FFF2-40B4-BE49-F238E27FC236}">
                <a16:creationId xmlns:a16="http://schemas.microsoft.com/office/drawing/2014/main" id="{FE9BA622-C046-425E-9A8C-9326F69CE86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196267" y="384810"/>
            <a:ext cx="7385955" cy="3914923"/>
          </a:xfrm>
          <a:prstGeom prst="rect">
            <a:avLst/>
          </a:prstGeom>
          <a:noFill/>
          <a:ln>
            <a:noFill/>
          </a:ln>
        </p:spPr>
      </p:pic>
      <p:sp>
        <p:nvSpPr>
          <p:cNvPr id="6" name="Text Box 2">
            <a:extLst>
              <a:ext uri="{FF2B5EF4-FFF2-40B4-BE49-F238E27FC236}">
                <a16:creationId xmlns:a16="http://schemas.microsoft.com/office/drawing/2014/main" id="{0EBFD08B-BEFB-412A-920E-15AE8CB6ADCC}"/>
              </a:ext>
            </a:extLst>
          </p:cNvPr>
          <p:cNvSpPr txBox="1">
            <a:spLocks noChangeArrowheads="1"/>
          </p:cNvSpPr>
          <p:nvPr/>
        </p:nvSpPr>
        <p:spPr bwMode="auto">
          <a:xfrm>
            <a:off x="3439769" y="4372635"/>
            <a:ext cx="5762625" cy="276225"/>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Comparison between Shopping Duration and Device Used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92837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766B-687B-4B21-A04A-72D8E2274B38}"/>
              </a:ext>
            </a:extLst>
          </p:cNvPr>
          <p:cNvSpPr>
            <a:spLocks noGrp="1"/>
          </p:cNvSpPr>
          <p:nvPr>
            <p:ph type="title"/>
          </p:nvPr>
        </p:nvSpPr>
        <p:spPr>
          <a:xfrm>
            <a:off x="1141413" y="618518"/>
            <a:ext cx="9905998" cy="448281"/>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117DB820-B85B-4BD8-AB1F-748628EB24C7}"/>
              </a:ext>
            </a:extLst>
          </p:cNvPr>
          <p:cNvSpPr>
            <a:spLocks noGrp="1"/>
          </p:cNvSpPr>
          <p:nvPr>
            <p:ph idx="1"/>
          </p:nvPr>
        </p:nvSpPr>
        <p:spPr>
          <a:xfrm>
            <a:off x="1141412" y="1237956"/>
            <a:ext cx="9905999" cy="5514535"/>
          </a:xfrm>
        </p:spPr>
        <p:txBody>
          <a:bodyPr/>
          <a:lstStyle/>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LABEL ENCODING OF COLUMNS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we use Label encoding to Encode the Data furth so that it can be use in Machine Learning.</a:t>
            </a:r>
            <a:endParaRPr lang="en-US" dirty="0"/>
          </a:p>
        </p:txBody>
      </p:sp>
      <p:pic>
        <p:nvPicPr>
          <p:cNvPr id="4" name="Picture 3">
            <a:extLst>
              <a:ext uri="{FF2B5EF4-FFF2-40B4-BE49-F238E27FC236}">
                <a16:creationId xmlns:a16="http://schemas.microsoft.com/office/drawing/2014/main" id="{0766F3DC-1BBE-45EC-9799-694CA75F72D3}"/>
              </a:ext>
            </a:extLst>
          </p:cNvPr>
          <p:cNvPicPr/>
          <p:nvPr/>
        </p:nvPicPr>
        <p:blipFill>
          <a:blip r:embed="rId2">
            <a:extLst>
              <a:ext uri="{28A0092B-C50C-407E-A947-70E740481C1C}">
                <a14:useLocalDpi xmlns:a14="http://schemas.microsoft.com/office/drawing/2010/main" val="0"/>
              </a:ext>
            </a:extLst>
          </a:blip>
          <a:stretch>
            <a:fillRect/>
          </a:stretch>
        </p:blipFill>
        <p:spPr>
          <a:xfrm>
            <a:off x="2865436" y="1716112"/>
            <a:ext cx="7375844" cy="3334190"/>
          </a:xfrm>
          <a:prstGeom prst="rect">
            <a:avLst/>
          </a:prstGeom>
        </p:spPr>
      </p:pic>
    </p:spTree>
    <p:extLst>
      <p:ext uri="{BB962C8B-B14F-4D97-AF65-F5344CB8AC3E}">
        <p14:creationId xmlns:p14="http://schemas.microsoft.com/office/powerpoint/2010/main" val="2854494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19DA4-D0C2-4693-B57F-0063B6D7C1FA}"/>
              </a:ext>
            </a:extLst>
          </p:cNvPr>
          <p:cNvSpPr>
            <a:spLocks noGrp="1"/>
          </p:cNvSpPr>
          <p:nvPr>
            <p:ph type="title"/>
          </p:nvPr>
        </p:nvSpPr>
        <p:spPr>
          <a:xfrm>
            <a:off x="1141413" y="123354"/>
            <a:ext cx="9905998" cy="605371"/>
          </a:xfrm>
        </p:spPr>
        <p:txBody>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sp>
        <p:nvSpPr>
          <p:cNvPr id="3" name="Content Placeholder 2">
            <a:extLst>
              <a:ext uri="{FF2B5EF4-FFF2-40B4-BE49-F238E27FC236}">
                <a16:creationId xmlns:a16="http://schemas.microsoft.com/office/drawing/2014/main" id="{3692FAB1-1655-4639-987E-23E8CAF81FC7}"/>
              </a:ext>
            </a:extLst>
          </p:cNvPr>
          <p:cNvSpPr>
            <a:spLocks noGrp="1"/>
          </p:cNvSpPr>
          <p:nvPr>
            <p:ph idx="1"/>
          </p:nvPr>
        </p:nvSpPr>
        <p:spPr>
          <a:xfrm>
            <a:off x="1141412" y="728725"/>
            <a:ext cx="9905999" cy="6129275"/>
          </a:xfrm>
        </p:spPr>
        <p:txBody>
          <a:bodyPr/>
          <a:lstStyle/>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REMOVING OUTLIERS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we use Boxplot and find a lot of outliers in the Dataset.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C0A5CCED-8443-4650-A990-334DBC989209}"/>
              </a:ext>
            </a:extLst>
          </p:cNvPr>
          <p:cNvPicPr/>
          <p:nvPr/>
        </p:nvPicPr>
        <p:blipFill>
          <a:blip r:embed="rId2">
            <a:extLst>
              <a:ext uri="{28A0092B-C50C-407E-A947-70E740481C1C}">
                <a14:useLocalDpi xmlns:a14="http://schemas.microsoft.com/office/drawing/2010/main" val="0"/>
              </a:ext>
            </a:extLst>
          </a:blip>
          <a:stretch>
            <a:fillRect/>
          </a:stretch>
        </p:blipFill>
        <p:spPr>
          <a:xfrm>
            <a:off x="2222696" y="1168078"/>
            <a:ext cx="8271802" cy="3600870"/>
          </a:xfrm>
          <a:prstGeom prst="rect">
            <a:avLst/>
          </a:prstGeom>
        </p:spPr>
      </p:pic>
      <p:sp>
        <p:nvSpPr>
          <p:cNvPr id="5" name="Text Box 2">
            <a:extLst>
              <a:ext uri="{FF2B5EF4-FFF2-40B4-BE49-F238E27FC236}">
                <a16:creationId xmlns:a16="http://schemas.microsoft.com/office/drawing/2014/main" id="{BBA91EB3-87AD-4257-81B3-C3DB2CA9023A}"/>
              </a:ext>
            </a:extLst>
          </p:cNvPr>
          <p:cNvSpPr txBox="1">
            <a:spLocks noChangeArrowheads="1"/>
          </p:cNvSpPr>
          <p:nvPr/>
        </p:nvSpPr>
        <p:spPr bwMode="auto">
          <a:xfrm>
            <a:off x="3153847" y="4928911"/>
            <a:ext cx="5762625" cy="276225"/>
          </a:xfrm>
          <a:prstGeom prst="rect">
            <a:avLst/>
          </a:prstGeom>
          <a:solidFill>
            <a:srgbClr val="0070C0"/>
          </a:solidFill>
          <a:ln w="9525">
            <a:solidFill>
              <a:schemeClr val="accent1"/>
            </a:solidFill>
            <a:miter lim="800000"/>
            <a:headEnd/>
            <a:tailEnd/>
          </a:ln>
        </p:spPr>
        <p:txBody>
          <a:bodyPr rot="0" vert="horz" wrap="square" lIns="91440" tIns="45720" rIns="91440" bIns="45720" anchor="t" anchorCtr="0">
            <a:noAutofit/>
          </a:bodyPr>
          <a:lstStyle/>
          <a:p>
            <a:pPr marL="0" marR="0">
              <a:lnSpc>
                <a:spcPct val="107000"/>
              </a:lnSpc>
              <a:spcBef>
                <a:spcPts val="0"/>
              </a:spcBef>
              <a:spcAft>
                <a:spcPts val="800"/>
              </a:spcAft>
            </a:pPr>
            <a:r>
              <a:rPr lang="en-US" sz="1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Figure : Box Plot of Columns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842657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9FBA1-1F36-4106-A556-54C4E44DB281}"/>
              </a:ext>
            </a:extLst>
          </p:cNvPr>
          <p:cNvSpPr>
            <a:spLocks noGrp="1"/>
          </p:cNvSpPr>
          <p:nvPr>
            <p:ph type="title"/>
          </p:nvPr>
        </p:nvSpPr>
        <p:spPr>
          <a:xfrm>
            <a:off x="1143001" y="309029"/>
            <a:ext cx="9905998" cy="506897"/>
          </a:xfrm>
        </p:spPr>
        <p:txBody>
          <a:bodyPr>
            <a:normAutofit fontScale="90000"/>
          </a:bodyPr>
          <a:lstStyle/>
          <a:p>
            <a:pPr algn="ctr"/>
            <a:r>
              <a:rPr lang="en-US" b="1" dirty="0">
                <a:solidFill>
                  <a:srgbClr val="0070C0"/>
                </a:solidFill>
                <a:effectLst>
                  <a:outerShdw blurRad="38100" dist="38100" dir="2700000" algn="tl">
                    <a:srgbClr val="000000">
                      <a:alpha val="43137"/>
                    </a:srgbClr>
                  </a:outerShdw>
                </a:effectLst>
              </a:rPr>
              <a:t>DATA ANALYSIS</a:t>
            </a:r>
            <a:endParaRPr lang="en-US" dirty="0"/>
          </a:p>
        </p:txBody>
      </p:sp>
      <p:pic>
        <p:nvPicPr>
          <p:cNvPr id="4" name="Content Placeholder 3">
            <a:extLst>
              <a:ext uri="{FF2B5EF4-FFF2-40B4-BE49-F238E27FC236}">
                <a16:creationId xmlns:a16="http://schemas.microsoft.com/office/drawing/2014/main" id="{F28F03B9-A9A6-4AD9-BF66-2E182D0378FA}"/>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518090" y="1498183"/>
            <a:ext cx="3577909" cy="2117214"/>
          </a:xfrm>
          <a:prstGeom prst="rect">
            <a:avLst/>
          </a:prstGeom>
        </p:spPr>
      </p:pic>
      <p:sp>
        <p:nvSpPr>
          <p:cNvPr id="6" name="TextBox 5">
            <a:extLst>
              <a:ext uri="{FF2B5EF4-FFF2-40B4-BE49-F238E27FC236}">
                <a16:creationId xmlns:a16="http://schemas.microsoft.com/office/drawing/2014/main" id="{A0A14FE5-A6C4-4772-B03E-1156235DD6FD}"/>
              </a:ext>
            </a:extLst>
          </p:cNvPr>
          <p:cNvSpPr txBox="1"/>
          <p:nvPr/>
        </p:nvSpPr>
        <p:spPr>
          <a:xfrm>
            <a:off x="1378633" y="3984729"/>
            <a:ext cx="10283484" cy="671915"/>
          </a:xfrm>
          <a:prstGeom prst="rect">
            <a:avLst/>
          </a:prstGeom>
          <a:noFill/>
        </p:spPr>
        <p:txBody>
          <a:bodyPr wrap="square">
            <a:spAutoFit/>
          </a:bodyPr>
          <a:lstStyle/>
          <a:p>
            <a:pPr marL="0" marR="0">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In the above Figure We use Z-Score to eliminate the outliers in the Dataset and derive df2 having 234 rows and 71 columns.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E1728A93-0003-4FAC-AC81-6D0CF8C16911}"/>
              </a:ext>
            </a:extLst>
          </p:cNvPr>
          <p:cNvSpPr txBox="1"/>
          <p:nvPr/>
        </p:nvSpPr>
        <p:spPr>
          <a:xfrm>
            <a:off x="1378633" y="1128851"/>
            <a:ext cx="6105378" cy="369332"/>
          </a:xfrm>
          <a:prstGeom prst="rect">
            <a:avLst/>
          </a:prstGeom>
          <a:noFill/>
        </p:spPr>
        <p:txBody>
          <a:bodyPr wrap="square">
            <a:spAutoFit/>
          </a:bodyPr>
          <a:lstStyle/>
          <a:p>
            <a:pPr marL="0" indent="0">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REMOVING OUTLIERS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81123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A07C8-1A43-4BE0-BB73-8E6A6AE7279B}"/>
              </a:ext>
            </a:extLst>
          </p:cNvPr>
          <p:cNvSpPr>
            <a:spLocks noGrp="1"/>
          </p:cNvSpPr>
          <p:nvPr>
            <p:ph type="title"/>
          </p:nvPr>
        </p:nvSpPr>
        <p:spPr>
          <a:xfrm>
            <a:off x="1141413" y="618518"/>
            <a:ext cx="9905998" cy="914860"/>
          </a:xfrm>
        </p:spPr>
        <p:txBody>
          <a:bodyPr>
            <a:normAutofit fontScale="90000"/>
          </a:bodyPr>
          <a:lstStyle/>
          <a:p>
            <a:r>
              <a:rPr lang="en-US" sz="3600" b="1" dirty="0">
                <a:solidFill>
                  <a:srgbClr val="0070C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EDA CONCLUDING REMARK</a:t>
            </a:r>
            <a:br>
              <a:rPr lang="en-US" sz="36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A51B52B-786E-4E6F-AC24-71BA2FB9AA0F}"/>
              </a:ext>
            </a:extLst>
          </p:cNvPr>
          <p:cNvSpPr>
            <a:spLocks noGrp="1"/>
          </p:cNvSpPr>
          <p:nvPr>
            <p:ph idx="1"/>
          </p:nvPr>
        </p:nvSpPr>
        <p:spPr/>
        <p:txBody>
          <a:bodyPr/>
          <a:lstStyle/>
          <a:p>
            <a:pPr marL="0" indent="0">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In this Project we perform basic EDA of Dataset. As there are two file (Detail &amp; Encoded) we used both to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analyse</a:t>
            </a:r>
            <a:r>
              <a:rPr lang="en-US" sz="2000" dirty="0">
                <a:effectLst/>
                <a:latin typeface="Calibri" panose="020F0502020204030204" pitchFamily="34" charset="0"/>
                <a:ea typeface="Calibri" panose="020F0502020204030204" pitchFamily="34" charset="0"/>
                <a:cs typeface="Times New Roman" panose="02020603050405020304" pitchFamily="18" charset="0"/>
              </a:rPr>
              <a:t> the dataset and complete the EDA</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p>
        </p:txBody>
      </p:sp>
    </p:spTree>
    <p:extLst>
      <p:ext uri="{BB962C8B-B14F-4D97-AF65-F5344CB8AC3E}">
        <p14:creationId xmlns:p14="http://schemas.microsoft.com/office/powerpoint/2010/main" val="42506791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60261-737B-44A1-AB4D-36E926B95ED6}"/>
              </a:ext>
            </a:extLst>
          </p:cNvPr>
          <p:cNvSpPr>
            <a:spLocks noGrp="1"/>
          </p:cNvSpPr>
          <p:nvPr>
            <p:ph type="title" idx="4294967295"/>
          </p:nvPr>
        </p:nvSpPr>
        <p:spPr>
          <a:xfrm>
            <a:off x="801858" y="717599"/>
            <a:ext cx="9906000" cy="1477963"/>
          </a:xfrm>
        </p:spPr>
        <p:txBody>
          <a:bodyPr>
            <a:normAutofit fontScale="90000"/>
          </a:bodyPr>
          <a:lstStyle/>
          <a:p>
            <a:pPr algn="ctr"/>
            <a:r>
              <a:rPr lang="en-US" sz="6000" b="1" dirty="0">
                <a:solidFill>
                  <a:srgbClr val="0070C0"/>
                </a:solidFill>
              </a:rPr>
              <a:t>         </a:t>
            </a:r>
            <a:br>
              <a:rPr lang="en-US" sz="6000" b="1" dirty="0">
                <a:solidFill>
                  <a:srgbClr val="0070C0"/>
                </a:solidFill>
              </a:rPr>
            </a:br>
            <a:r>
              <a:rPr lang="en-US" sz="6000" b="1" dirty="0">
                <a:solidFill>
                  <a:srgbClr val="0070C0"/>
                </a:solidFill>
              </a:rPr>
              <a:t>       THE END</a:t>
            </a:r>
            <a:br>
              <a:rPr lang="en-US" sz="3600" b="1" dirty="0">
                <a:solidFill>
                  <a:srgbClr val="0070C0"/>
                </a:solidFill>
              </a:rPr>
            </a:br>
            <a:endParaRPr lang="en-US" dirty="0"/>
          </a:p>
        </p:txBody>
      </p:sp>
    </p:spTree>
    <p:extLst>
      <p:ext uri="{BB962C8B-B14F-4D97-AF65-F5344CB8AC3E}">
        <p14:creationId xmlns:p14="http://schemas.microsoft.com/office/powerpoint/2010/main" val="26195352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383</TotalTime>
  <Words>1309</Words>
  <Application>Microsoft Office PowerPoint</Application>
  <PresentationFormat>Widescreen</PresentationFormat>
  <Paragraphs>278</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Tw Cen MT</vt:lpstr>
      <vt:lpstr>Wingdings</vt:lpstr>
      <vt:lpstr>Circuit</vt:lpstr>
      <vt:lpstr>CUSTOMER RETENTION PROJECT</vt:lpstr>
      <vt:lpstr>INTRODUCTION</vt:lpstr>
      <vt:lpstr>PROBLEM DEFINITION</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DATA ANALYSIS</vt:lpstr>
      <vt:lpstr>EDA CONCLUDING REMARK </vt:lpstr>
      <vt:lpstr>                 THE 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RETENTION PROJECT</dc:title>
  <dc:creator>Suman</dc:creator>
  <cp:lastModifiedBy>Suman</cp:lastModifiedBy>
  <cp:revision>13</cp:revision>
  <dcterms:created xsi:type="dcterms:W3CDTF">2021-07-29T11:28:44Z</dcterms:created>
  <dcterms:modified xsi:type="dcterms:W3CDTF">2021-07-29T17:52:02Z</dcterms:modified>
</cp:coreProperties>
</file>